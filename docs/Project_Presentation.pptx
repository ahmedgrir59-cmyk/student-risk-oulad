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5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 Academic Risk · OULAD · Day 28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A85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 PROJECT PRESENTATION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502920"/>
            <a:ext cx="960120" cy="960120"/>
          </a:xfrm>
          <a:prstGeom prst="roundRect">
            <a:avLst>
              <a:gd name="adj" fmla="val 20952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30352" y="74980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66E8"/>
                </a:solidFill>
              </a:rPr>
              <a:t>INTELLIGENT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D3557"/>
                </a:solidFill>
              </a:rPr>
              <a:t>Academic Progress Monitoring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D3557"/>
                </a:solidFill>
              </a:rPr>
              <a:t>&amp; Early Risk Prediction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12648" y="36758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OULAD · Day-28 Early Warning · Explainable ML · Support Recommendations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32520" y="1691640"/>
            <a:ext cx="2834640" cy="32461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00000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034272" y="1993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Project scope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052560" y="2450592"/>
            <a:ext cx="137160" cy="137160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08592" y="2423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EDA &amp; feature engineering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52560" y="2843784"/>
            <a:ext cx="137160" cy="137160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08592" y="2816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Leakage-safe preprocessing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052560" y="3236976"/>
            <a:ext cx="137160" cy="137160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08592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LR · SVM · Random Forest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052560" y="3630168"/>
            <a:ext cx="137160" cy="137160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08592" y="3602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5-fold group-aware CV + tuning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52560" y="4023360"/>
            <a:ext cx="137160" cy="137160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08592" y="3995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Calibration + risk bands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52560" y="4416552"/>
            <a:ext cx="137160" cy="137160"/>
          </a:xfrm>
          <a:prstGeom prst="ellipse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08592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SHAP + recommendations + demo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8A"/>
                </a:solidFill>
              </a:rPr>
              <a:t>FINAL PROJECT PRESENTATION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Prepared by: Project Team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· Problem &amp; Project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we identify future academic risk early enough to support the student?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0000000000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Prediction task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</a:rPr>
              <a:t>At Risk vs Not At Risk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86384" y="2587752"/>
            <a:ext cx="1143000" cy="256032"/>
          </a:xfrm>
          <a:prstGeom prst="rect">
            <a:avLst/>
          </a:prstGeom>
          <a:solidFill>
            <a:srgbClr val="C94A58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Risk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29968" y="2587752"/>
            <a:ext cx="1691640" cy="256032"/>
          </a:xfrm>
          <a:prstGeom prst="rect">
            <a:avLst/>
          </a:prstGeom>
          <a:solidFill>
            <a:srgbClr val="C94A58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Fail / Withdrawn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2999232"/>
            <a:ext cx="1417320" cy="256032"/>
          </a:xfrm>
          <a:prstGeom prst="rect">
            <a:avLst/>
          </a:prstGeom>
          <a:solidFill>
            <a:srgbClr val="2F8A62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At Risk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13432" y="2999232"/>
            <a:ext cx="1737360" cy="256032"/>
          </a:xfrm>
          <a:prstGeom prst="rect">
            <a:avLst/>
          </a:prstGeom>
          <a:solidFill>
            <a:srgbClr val="2F8A62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 / Distinction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6384" y="3794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Prediction point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766E8"/>
                </a:solidFill>
              </a:rPr>
              <a:t>Day 28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86384" y="46817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Only information available through Day 28 is allowed to enter the model.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F9FB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000000000000000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09360" y="16459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Why this is stronger than “predict the final grade”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27648" y="2176272"/>
            <a:ext cx="461772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intervention before the final outcome is known.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Combines engagement, assessment progress, and study context.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Produces calibrated probability and relative risk bands.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Explains model behavior and recommends support actions.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Designed for human review — not automatic punishment or exclusion.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· Why OULAD?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temporal learning-analytics dataset that supports real early-warning design.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e+24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" cy="1051560"/>
          </a:xfrm>
          <a:prstGeom prst="rect">
            <a:avLst/>
          </a:prstGeom>
          <a:solidFill>
            <a:srgbClr val="3766E8"/>
          </a:solidFill>
          <a:ln w="12700">
            <a:solidFill>
              <a:srgbClr val="3766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5087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ENGINEERED ROWS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27,515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21396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eligible enrollments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e+29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97480" y="1371600"/>
            <a:ext cx="45720" cy="1051560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862072" y="15087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STUDENTS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862072" y="17556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24,826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862072" y="21396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unique students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e+34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45720" cy="1051560"/>
          </a:xfrm>
          <a:prstGeom prst="rect">
            <a:avLst/>
          </a:prstGeom>
          <a:solidFill>
            <a:srgbClr val="C98B2E"/>
          </a:solidFill>
          <a:ln w="12700">
            <a:solidFill>
              <a:srgbClr val="C98B2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10912" y="15087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FEATURES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010912" y="17556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61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10912" y="21396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incl. audit/target fields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995160" y="13716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e+39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995160" y="1371600"/>
            <a:ext cx="45720" cy="1051560"/>
          </a:xfrm>
          <a:prstGeom prst="rect">
            <a:avLst/>
          </a:prstGeom>
          <a:solidFill>
            <a:srgbClr val="C94A58"/>
          </a:solidFill>
          <a:ln w="12700">
            <a:solidFill>
              <a:srgbClr val="C94A5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59752" y="15087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RISK PREVALENCE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7159752" y="17556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44.11%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159752" y="21396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overall engineered table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9144000" y="1371600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9.999999999999999e+43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144000" y="1371600"/>
            <a:ext cx="45720" cy="10515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08592" y="15087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PREDICTION POINT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9308592" y="17556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Day 28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308592" y="21396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fixed observation boundary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48640" y="2697480"/>
            <a:ext cx="6949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e+49"/>
              </a:srgbClr>
            </a:outerShdw>
          </a:effectLst>
        </p:spPr>
        <p:txBody>
          <a:bodyPr/>
          <a:p/>
        </p:txBody>
      </p:sp>
      <p:pic>
        <p:nvPicPr>
          <p:cNvPr id="30" name="Image 0" descr="End-to-end project workflow from OULAD data through Day-28 feature engineering, leakage-safe validation, model selection, calibration, explainability, and support actions." title="End-to-end project workflow from OULAD data through Day-28 feature engineering, leakage-safe validation, model sel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222993"/>
            <a:ext cx="6537960" cy="1920774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726680" y="269748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9.999999999999999e+53"/>
              </a:srgbClr>
            </a:outerShdw>
          </a:effectLst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019288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</a:rPr>
              <a:t>What OULAD adds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001000" y="3493008"/>
            <a:ext cx="269748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VLE activity over time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Assessment dates and student scores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Registration and prior-attempt context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Linked student-course presentations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Enough scale for grouped CV and tuning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640080" y="614476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</a:rPr>
              <a:t>Dataset reference: Kuzilek, Hlosta &amp; Zdrahal (2017), Scientific Data 4:170171 · doi:10.1038/sdata.2017.171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· Leakage-Aware Experimental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model sees the past — never the future.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5262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9.999999999999999e+58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8A"/>
                </a:solidFill>
              </a:rPr>
              <a:t>Allowed by Day 28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292608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VLE clicks &amp; active days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1 → Week 4 activity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Recent engagement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Assessments due/submitted by Day 28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scores available by Day 28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Background/course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3200400" cy="4526280"/>
          </a:xfrm>
          <a:prstGeom prst="roundRect">
            <a:avLst>
              <a:gd name="adj" fmla="val 3429"/>
            </a:avLst>
          </a:prstGeom>
          <a:solidFill>
            <a:srgbClr val="FFF8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9.999999999999999e+63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73168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4A58"/>
                </a:solidFill>
              </a:rPr>
              <a:t>Blocked / audit-only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48840"/>
            <a:ext cx="24231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final_result → target only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id_student → joins / grouping only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date_unregistration → cohort eligibility only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Any VLE activity after Day 28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Any assessment outcome after Day 28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7863840" y="1325880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9.999999999999999e+68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65592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Group-aware split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2084832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9.999999999999998e+73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83880" y="2084832"/>
            <a:ext cx="45720" cy="1051560"/>
          </a:xfrm>
          <a:prstGeom prst="rect">
            <a:avLst/>
          </a:prstGeom>
          <a:solidFill>
            <a:srgbClr val="3766E8"/>
          </a:solidFill>
          <a:ln w="12700">
            <a:solidFill>
              <a:srgbClr val="3766E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48472" y="22219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DEVELOPMENT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8348472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22,011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48472" y="28529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rows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9646920" y="2084832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9.999999999999998e+78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646920" y="2084832"/>
            <a:ext cx="45720" cy="1051560"/>
          </a:xfrm>
          <a:prstGeom prst="rect">
            <a:avLst/>
          </a:prstGeom>
          <a:solidFill>
            <a:srgbClr val="C98B2E"/>
          </a:solidFill>
          <a:ln w="12700">
            <a:solidFill>
              <a:srgbClr val="C98B2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811512" y="22219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HOLDOUT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9811512" y="24688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5,504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11512" y="28529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rows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8183880" y="3310128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9.999999999999998e+83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83880" y="3310128"/>
            <a:ext cx="45720" cy="1051560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348472" y="34472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DEV STUDENTS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348472" y="3694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19,851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348472" y="40782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unique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9646920" y="3310128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9.999999999999999e+88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646920" y="3310128"/>
            <a:ext cx="45720" cy="1051560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811512" y="34472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HOLDOUT STUDENTS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9811512" y="3694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4,975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811512" y="40782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unique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229600" y="4617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A62"/>
                </a:solidFill>
              </a:rPr>
              <a:t>Student overlap = 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83880" y="516636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Methodology note: earlier iterative development viewed holdout diagnostics, so strict external validation still requires a future cohort / external dataset.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· EDA: What Signals Appear Early?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Target-facing analysis is restricted to development data.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9.999999999999998e+93"/>
              </a:srgbClr>
            </a:outerShdw>
          </a:effectLst>
        </p:spPr>
        <p:txBody>
          <a:bodyPr/>
          <a:p/>
        </p:txBody>
      </p:sp>
      <p:pic>
        <p:nvPicPr>
          <p:cNvPr id="5" name="Image 0" descr="Bar chart of top numeric associations with the at-risk target on development data." title="Bar chart of top numeric associations with the at-risk target on development da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2316"/>
            <a:ext cx="5120640" cy="36648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36208" y="1298448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9.999999999999998e+98"/>
              </a:srgbClr>
            </a:outerShdw>
          </a:effectLst>
        </p:spPr>
        <p:txBody>
          <a:bodyPr/>
          <a:p/>
        </p:txBody>
      </p:sp>
      <p:pic>
        <p:nvPicPr>
          <p:cNvPr id="7" name="Image 1" descr="Line chart comparing weekly VLE engagement for at-risk versus not-at-risk students across Weeks 1 to 4." title="Line chart comparing weekly VLE engagement for at-risk versus not-at-risk students across Weeks 1 to 4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702" y="1572768"/>
            <a:ext cx="4874836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10528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</a:rPr>
              <a:t>Key descriptive signals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92240" y="5175504"/>
            <a:ext cx="45720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9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assessment score &amp; completion</a:t>
            </a:r>
            <a:endParaRPr lang="en-US" sz="920" dirty="0"/>
          </a:p>
          <a:p>
            <a:pPr marL="203200" indent="-203200">
              <a:buSzPct val="100000"/>
              <a:buChar char="•"/>
            </a:pPr>
            <a:r>
              <a:rPr lang="en-US" sz="9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Missed assessments</a:t>
            </a:r>
            <a:endParaRPr lang="en-US" sz="920" dirty="0"/>
          </a:p>
          <a:p>
            <a:pPr marL="203200" indent="-203200">
              <a:buSzPct val="100000"/>
              <a:buChar char="•"/>
            </a:pPr>
            <a:r>
              <a:rPr lang="en-US" sz="9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days / recent activity</a:t>
            </a:r>
            <a:endParaRPr lang="en-US" sz="920" dirty="0"/>
          </a:p>
          <a:p>
            <a:pPr marL="203200" indent="-203200">
              <a:buSzPct val="100000"/>
              <a:buChar char="•"/>
            </a:pPr>
            <a:r>
              <a:rPr lang="en-US" sz="9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Inactivity duration</a:t>
            </a:r>
            <a:endParaRPr lang="en-US" sz="920" dirty="0"/>
          </a:p>
          <a:p>
            <a:pPr marL="203200" indent="-203200">
              <a:buSzPct val="100000"/>
              <a:buChar char="•"/>
            </a:pPr>
            <a:r>
              <a:rPr lang="en-US" sz="92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Four-week engagement pattern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· Feature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student-course row becomes a Day-28 snapshot of progress and context.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9.999999999999998e+103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Background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585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age · education · region · IMD · disability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150876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9.999999999999998e+108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3440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History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2585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previous attempts · studied credits · registration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0" y="150876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9.999999999999997e+113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58200" y="1783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VLE totals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2585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clicks · active days · resource/activity counts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9.999999999999998e+118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794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Weekly progress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2702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Week 1–4 clicks · slope · direction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35204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9.999999999999997e+123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63440" y="3794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Recent engagement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2702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last 7 days · days since activity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35204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9.999999999999997e+128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58200" y="3794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Assessments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42702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scores · weighted score · completion · missed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5715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D8A"/>
                </a:solidFill>
              </a:rPr>
              <a:t>Result: a reproducible 61-column engineered table with an explicit prediction-time boundary.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· Preprocessing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transformations during training and inference.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23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9.999999999999997e+133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Numeric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651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Median imputation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31272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standardize for LR / SVM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3191256" y="2542032"/>
            <a:ext cx="320040" cy="566928"/>
          </a:xfrm>
          <a:prstGeom prst="chevron">
            <a:avLst/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47288" y="1828800"/>
            <a:ext cx="2423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9.999999999999998e+138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0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Categorical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651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Most-frequent imputation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one-hot encoding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952744" y="2542032"/>
            <a:ext cx="320040" cy="566928"/>
          </a:xfrm>
          <a:prstGeom prst="chevron">
            <a:avLst/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08776" y="1828800"/>
            <a:ext cx="2423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9.999999999999999e+143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19088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Identity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088" y="2651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Drop id_student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31272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retain only for grouping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714232" y="2542032"/>
            <a:ext cx="320040" cy="566928"/>
          </a:xfrm>
          <a:prstGeom prst="chevron">
            <a:avLst/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70264" y="1828800"/>
            <a:ext cx="2423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9.999999999999998e+148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80576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8A"/>
                </a:solidFill>
              </a:rPr>
              <a:t>Pipeline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0576" y="2651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Fit inside CV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0576" y="31272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avoid test-distribution leakage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66E8"/>
                </a:solidFill>
              </a:rPr>
              <a:t>Random Forest does not require numeric scaling; Logistic Regression and SVM do.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9560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Unknown categorical values are ignored safely by the inference encoder.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· 5-Fold Group-Aware Model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Selection uses development CV — not the locked evaluation metrics.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70408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9.999999999999999e+153"/>
              </a:srgbClr>
            </a:outerShdw>
          </a:effectLst>
        </p:spPr>
        <p:txBody>
          <a:bodyPr/>
          <a:p/>
        </p:txBody>
      </p:sp>
      <p:pic>
        <p:nvPicPr>
          <p:cNvPr id="5" name="Image 0" descr="Bar chart comparing development 5-fold CV F1, Recall, ROC-AUC, and PR-AUC for Logistic Regression, Linear SVM, and Random Forest." title="Bar chart comparing development 5-fold CV F1, Recall, ROC-AUC, and PR-AUC for Logistic Regression, Linear SVM, and Ra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14420"/>
            <a:ext cx="6537960" cy="36577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3258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1e+159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19872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Winner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119872" y="2029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D3557"/>
                </a:solidFill>
              </a:rPr>
              <a:t>Logistic Regression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138160" y="269748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9.999999999999999e+163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138160" y="2697480"/>
            <a:ext cx="45720" cy="1051560"/>
          </a:xfrm>
          <a:prstGeom prst="rect">
            <a:avLst/>
          </a:prstGeom>
          <a:solidFill>
            <a:srgbClr val="3766E8"/>
          </a:solidFill>
          <a:ln w="12700">
            <a:solidFill>
              <a:srgbClr val="3766E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02752" y="28346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CV F1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8302752" y="30815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0.670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302752" y="34655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mean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9601200" y="269748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00000">
                <a:alpha val="1e+169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601200" y="2697480"/>
            <a:ext cx="45720" cy="1051560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65792" y="28346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CV RECALL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9765792" y="30815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0.658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9765792" y="34655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mean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8138160" y="393192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593305054458923e+143" dist="4.296652527229462e+143" dir="7.735818598867904e+168">
              <a:srgbClr val="000000">
                <a:alpha val="9.999999999999998e+173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8138160" y="3931920"/>
            <a:ext cx="45720" cy="10515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302752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ROC-AUC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8302752" y="4315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0.785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302752" y="47000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mean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9601200" y="3931920"/>
            <a:ext cx="13258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0913497419162833e+148" dist="5.4567487095814166e+147" dir="4.6414911593207425e+173">
              <a:srgbClr val="000000">
                <a:alpha val="9.999999999999998e+178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601200" y="3931920"/>
            <a:ext cx="45720" cy="1051560"/>
          </a:xfrm>
          <a:prstGeom prst="rect">
            <a:avLst/>
          </a:prstGeom>
          <a:solidFill>
            <a:srgbClr val="C98B2E"/>
          </a:solidFill>
          <a:ln w="12700">
            <a:solidFill>
              <a:srgbClr val="C98B2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65792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PR-AUC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9765792" y="4315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0.763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9765792" y="47000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mean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8183880" y="5257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7085"/>
                </a:solidFill>
              </a:rPr>
              <a:t>Simple ≠ weak. On this structured tabular problem, the interpretable linear model generalized best in the selected comparison.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· Tuning, Calibration &amp; Risk Bands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output is a calibrated support probability — not just a hard class.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38601417223368e+152" dist="6.9300708611684e+151" dir="2.7848946955924455e+178">
              <a:srgbClr val="000000">
                <a:alpha val="9.999999999999998e+183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19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</a:rPr>
              <a:t>Selected hyperparameters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766E8"/>
                </a:solidFill>
              </a:rPr>
              <a:t>C = 0.05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class_weight = balanced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Calibration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Logistic calibrator fitted on group-aware out-of-fold development scores.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353312"/>
            <a:ext cx="69037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7602379987367734e+156" dist="8.801189993683867e+155" dir="1.6709368173554673e+183">
              <a:srgbClr val="000000">
                <a:alpha val="9.999999999999998e+188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557"/>
                </a:solidFill>
              </a:rPr>
              <a:t>Relative modeled risk bands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73168" y="2487168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E8F6EF"/>
          </a:solidFill>
          <a:ln w="12700">
            <a:solidFill>
              <a:srgbClr val="CEEBD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73168" y="2715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A62"/>
                </a:solidFill>
              </a:rPr>
              <a:t>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32004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p &lt; 0.2509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2487168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FFF2DD"/>
          </a:solidFill>
          <a:ln w="12700">
            <a:solidFill>
              <a:srgbClr val="F7D9A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03720" y="2715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8B2E"/>
                </a:solidFill>
              </a:rPr>
              <a:t>MEDIUM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03720" y="32004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0.2509 – 0.3197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34272" y="2487168"/>
            <a:ext cx="1874520" cy="1325880"/>
          </a:xfrm>
          <a:prstGeom prst="roundRect">
            <a:avLst>
              <a:gd name="adj" fmla="val 6897"/>
            </a:avLst>
          </a:prstGeom>
          <a:solidFill>
            <a:srgbClr val="FDEBED"/>
          </a:solidFill>
          <a:ln w="12700">
            <a:solidFill>
              <a:srgbClr val="F2C2C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034272" y="2715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A58"/>
                </a:solidFill>
              </a:rPr>
              <a:t>HIGH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4272" y="32004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p ≥ 0.3197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31596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Low ≠ guaranteed success · High ≠ guaranteed failure. These bands prioritize human-reviewed support.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· Locked Evaluation Holdout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operating threshold favors recall so fewer at-risk students are missed.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235502258395702e+160" dist="1.117751129197851e+160" dir="1.0025620904132804e+188">
              <a:srgbClr val="000000">
                <a:alpha val="9.999999999999998e+193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325880"/>
            <a:ext cx="45720" cy="10515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4630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ACCURACY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31520" y="1709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68.7%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0939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overall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395728" y="132588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8390878681625417e+164" dist="1.4195439340812709e+164" dir="6.015372542479682e+192">
              <a:srgbClr val="000000">
                <a:alpha val="9.999999999999999e+198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395728" y="1325880"/>
            <a:ext cx="45720" cy="1051560"/>
          </a:xfrm>
          <a:prstGeom prst="rect">
            <a:avLst/>
          </a:prstGeom>
          <a:solidFill>
            <a:srgbClr val="C98B2E"/>
          </a:solidFill>
          <a:ln w="12700">
            <a:solidFill>
              <a:srgbClr val="C98B2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60320" y="14630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PRECISION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2560320" y="1709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60.6%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60320" y="20939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alert purity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224528" y="132588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605641592566428e+168" dist="1.802820796283214e+168" dir="3.6092235254878095e+197">
              <a:srgbClr val="000000">
                <a:alpha val="9.999999999999998e+203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24528" y="1325880"/>
            <a:ext cx="45720" cy="1051560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389120" y="14630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RECALL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389120" y="1709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83.2%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389120" y="20939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at-risk detected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053328" y="132588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579164822559364e+172" dist="2.289582411279682e+172" dir="2.1655341152926858e+202">
              <a:srgbClr val="000000">
                <a:alpha val="9.999999999999999e+208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53328" y="1325880"/>
            <a:ext cx="45720" cy="1051560"/>
          </a:xfrm>
          <a:prstGeom prst="rect">
            <a:avLst/>
          </a:prstGeom>
          <a:solidFill>
            <a:srgbClr val="3766E8"/>
          </a:solidFill>
          <a:ln w="12700">
            <a:solidFill>
              <a:srgbClr val="3766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14630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F1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217920" y="1709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70.1%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217920" y="20939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balance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882128" y="132588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815539324650392e+176" dist="2.907769662325196e+176" dir="1.2993204691756116e+207">
              <a:srgbClr val="000000">
                <a:alpha val="9.999999999999998e+213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882128" y="1325880"/>
            <a:ext cx="45720" cy="10515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0" y="14630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ROC-AUC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8046720" y="1709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0.798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046720" y="20939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ranking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9710928" y="132588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.385734942305998e+180" dist="3.692867471152999e+180" dir="7.795922815053669e+211">
              <a:srgbClr val="000000">
                <a:alpha val="9.999999999999998e+218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710928" y="1325880"/>
            <a:ext cx="45720" cy="1051560"/>
          </a:xfrm>
          <a:prstGeom prst="rect">
            <a:avLst/>
          </a:prstGeom>
          <a:solidFill>
            <a:srgbClr val="C98B2E"/>
          </a:solidFill>
          <a:ln w="12700">
            <a:solidFill>
              <a:srgbClr val="C98B2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875520" y="14630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PR-AUC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9875520" y="1709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0.777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875520" y="20939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PR ranking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94360" y="2606040"/>
            <a:ext cx="37033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9.379883376728618e+184" dist="4.689941688364309e+184" dir="4.677553689032201e+216">
              <a:srgbClr val="000000">
                <a:alpha val="9.999999999999998e+223"/>
              </a:srgbClr>
            </a:outerShdw>
          </a:effectLst>
        </p:spPr>
        <p:txBody>
          <a:bodyPr/>
          <a:p/>
        </p:txBody>
      </p:sp>
      <p:pic>
        <p:nvPicPr>
          <p:cNvPr id="35" name="Image 0" descr="Confusion matrix on the locked evaluation holdout." title="Confusion matrix on the locked evaluation holdou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76550"/>
            <a:ext cx="2971800" cy="247650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4526280" y="260604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1912451888445345e+189" dist="5.956225944222673e+188" dir="2.806532213419321e+221">
              <a:srgbClr val="000000">
                <a:alpha val="9.999999999999997e+228"/>
              </a:srgbClr>
            </a:outerShdw>
          </a:effectLst>
        </p:spPr>
        <p:txBody>
          <a:bodyPr/>
          <a:p/>
        </p:txBody>
      </p:sp>
      <p:pic>
        <p:nvPicPr>
          <p:cNvPr id="37" name="Image 1" descr="ROC curve for the selected model on the locked evaluation holdout." title="ROC curve for the selected model on the locked evaluation holdou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934462"/>
            <a:ext cx="2788920" cy="232410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8046720" y="260604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5128813898325588e+193" dist="7.564406949162794e+192" dir="1.6839193280515925e+226">
              <a:srgbClr val="000000">
                <a:alpha val="9.999999999999997e+233"/>
              </a:srgbClr>
            </a:outerShdw>
          </a:effectLst>
        </p:spPr>
        <p:txBody>
          <a:bodyPr/>
          <a:p/>
        </p:txBody>
      </p:sp>
      <p:pic>
        <p:nvPicPr>
          <p:cNvPr id="39" name="Image 2" descr="Precision-recall curve for the selected model on the locked evaluation holdout." title="Precision-recall curve for the selected model on the locked evaluation holdout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934462"/>
            <a:ext cx="2788920" cy="23241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· Calibration &amp; Risk Distribution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the probability bands behave sensibly?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9213593650873497e+197" dist="9.606796825436748e+196" dir="1.0103515968309554e+231">
              <a:srgbClr val="000000">
                <a:alpha val="9.999999999999996e+238"/>
              </a:srgbClr>
            </a:outerShdw>
          </a:effectLst>
        </p:spPr>
        <p:txBody>
          <a:bodyPr/>
          <a:p/>
        </p:txBody>
      </p:sp>
      <p:pic>
        <p:nvPicPr>
          <p:cNvPr id="5" name="Image 0" descr="Calibration curve comparing predicted probability with observed at-risk frequency." title="Calibration curve comparing predicted probability with observed at-risk frequenc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1664208"/>
            <a:ext cx="4498848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91072" y="13258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440126393660934e+201" dist="1.220063196830467e+201" dir="6.062109580985733e+235">
              <a:srgbClr val="000000">
                <a:alpha val="9.999999999999996e+243"/>
              </a:srgbClr>
            </a:outerShdw>
          </a:effectLst>
        </p:spPr>
        <p:txBody>
          <a:bodyPr/>
          <a:p/>
        </p:txBody>
      </p:sp>
      <p:pic>
        <p:nvPicPr>
          <p:cNvPr id="7" name="Image 1" descr="Bar chart showing low, medium, and high modeled risk bands on the locked evaluation holdout." title="Bar chart showing low, medium, and high modeled risk bands on the locked evaluation holdou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63479"/>
            <a:ext cx="4526280" cy="25835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20840" y="49194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9D8A"/>
                </a:solidFill>
              </a:rPr>
              <a:t>Observed outcome rate rises clearly across Low → Medium → High bands.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720840" y="53949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Brier = 0.179 · ECE ≈ 0.015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· Explainability: SHAP + Coefficients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 model behavior — do not claim causality.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6766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0989605199493864e+205" dist="1.5494802599746932e+205" dir="3.63726574859144e+240">
              <a:srgbClr val="000000">
                <a:alpha val="9.999999999999995e+248"/>
              </a:srgbClr>
            </a:outerShdw>
          </a:effectLst>
        </p:spPr>
        <p:txBody>
          <a:bodyPr/>
          <a:p/>
        </p:txBody>
      </p:sp>
      <p:pic>
        <p:nvPicPr>
          <p:cNvPr id="5" name="Image 0" descr="Global mean absolute SHAP feature importance chart for the selected Logistic Regression model." title="Global mean absolute SHAP feature importance chart for the selected Logistic Regression mode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609344"/>
            <a:ext cx="46863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25880"/>
            <a:ext cx="3794760" cy="452628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9356798603357206e+209" dist="1.9678399301678603e+209" dir="2.182359449154864e+245">
              <a:srgbClr val="000000">
                <a:alpha val="9.999999999999995e+253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845552" y="16642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</a:rPr>
              <a:t>How we interpret explanations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2212848"/>
            <a:ext cx="297180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mean |SHAP| → importance magnitude only.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signed SHAP → raises or lowers one student prediction.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Logistic coefficients → transformed-feature model direction.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None of these establish causal effects.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45552" y="4800600"/>
            <a:ext cx="2926080" cy="658368"/>
          </a:xfrm>
          <a:prstGeom prst="roundRect">
            <a:avLst>
              <a:gd name="adj" fmla="val 13889"/>
            </a:avLst>
          </a:prstGeom>
          <a:solidFill>
            <a:srgbClr val="FFF6E7"/>
          </a:solidFill>
          <a:ln w="12700">
            <a:solidFill>
              <a:srgbClr val="F4D8A5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028432" y="5001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8B2E"/>
                </a:solidFill>
              </a:rPr>
              <a:t>Explain prediction ≠ explain the student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· Recommendation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actionable warning signals into supportive next steps.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9983134226263654e+213" dist="2.4991567113131827e+213" dir="1.3094156694929184e+250">
              <a:srgbClr val="000000">
                <a:alpha val="9.999999999999996e+258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6459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557"/>
                </a:solidFill>
              </a:rPr>
              <a:t>Missed assessment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0" y="1609344"/>
            <a:ext cx="347472" cy="292608"/>
          </a:xfrm>
          <a:prstGeom prst="chevron">
            <a:avLst/>
          </a:prstGeom>
          <a:solidFill>
            <a:srgbClr val="DCE7FF"/>
          </a:solidFill>
          <a:ln w="12700">
            <a:solidFill>
              <a:srgbClr val="DCE7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977640" y="16184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Catch-up plan for overdue work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9FB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347858046735484e+217" dist="3.173929023367742e+217" dir="7.85649401695751e+254">
              <a:srgbClr val="000000">
                <a:alpha val="9.999999999999996e+263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4140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557"/>
                </a:solidFill>
              </a:rPr>
              <a:t>Low early score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347472" cy="292608"/>
          </a:xfrm>
          <a:prstGeom prst="chevron">
            <a:avLst/>
          </a:prstGeom>
          <a:solidFill>
            <a:srgbClr val="DCE7FF"/>
          </a:solidFill>
          <a:ln w="12700">
            <a:solidFill>
              <a:srgbClr val="DCE7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977640" y="23865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Targeted academic review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58368" y="298094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061779719354066e+221" dist="4.030889859677033e+221" dir="4.713896410174506e+259">
              <a:srgbClr val="000000">
                <a:alpha val="9.999999999999996e+268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1821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557"/>
                </a:solidFill>
              </a:rPr>
              <a:t>Recent inactivity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3145536"/>
            <a:ext cx="347472" cy="292608"/>
          </a:xfrm>
          <a:prstGeom prst="chevron">
            <a:avLst/>
          </a:prstGeom>
          <a:solidFill>
            <a:srgbClr val="DCE7FF"/>
          </a:solidFill>
          <a:ln w="12700">
            <a:solidFill>
              <a:srgbClr val="DCE7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977640" y="3154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Supportive re-engagement check-in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58368" y="374904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9FB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0238460243579663e+226" dist="5.1192301217898315e+225" dir="2.8283378461047036e+264">
              <a:srgbClr val="000000">
                <a:alpha val="9.999999999999995e+273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39502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557"/>
                </a:solidFill>
              </a:rPr>
              <a:t>Low recent engagement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3913632"/>
            <a:ext cx="347472" cy="292608"/>
          </a:xfrm>
          <a:prstGeom prst="chevron">
            <a:avLst/>
          </a:prstGeom>
          <a:solidFill>
            <a:srgbClr val="DCE7FF"/>
          </a:solidFill>
          <a:ln w="12700">
            <a:solidFill>
              <a:srgbClr val="DCE7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77640" y="39227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Short regular study schedule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58368" y="4517136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3002844509346172e+230" dist="6.501422254673086e+229" dir="1.6970027076628222e+269">
              <a:srgbClr val="000000">
                <a:alpha val="9.999999999999996e+278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47183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557"/>
                </a:solidFill>
              </a:rPr>
              <a:t>Declining activity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4681728"/>
            <a:ext cx="347472" cy="292608"/>
          </a:xfrm>
          <a:prstGeom prst="chevron">
            <a:avLst/>
          </a:prstGeom>
          <a:solidFill>
            <a:srgbClr val="DCE7FF"/>
          </a:solidFill>
          <a:ln w="12700">
            <a:solidFill>
              <a:srgbClr val="DCE7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977640" y="4690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Identify barriers + recovery plan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58368" y="528523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9FB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6513612526869638e+234" dist="8.256806263434819e+233" dir="1.0182016245976934e+274">
              <a:srgbClr val="000000">
                <a:alpha val="9.999999999999996e+283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14400" y="54864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3557"/>
                </a:solidFill>
              </a:rPr>
              <a:t>Previous attempts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0" y="5449824"/>
            <a:ext cx="347472" cy="292608"/>
          </a:xfrm>
          <a:prstGeom prst="chevron">
            <a:avLst/>
          </a:prstGeom>
          <a:solidFill>
            <a:srgbClr val="DCE7FF"/>
          </a:solidFill>
          <a:ln w="12700">
            <a:solidFill>
              <a:srgbClr val="DCE7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977640" y="5458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72033"/>
                </a:solidFill>
              </a:rPr>
              <a:t>Consider structured tutoring support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920240" y="614476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9D8A"/>
                </a:solidFill>
              </a:rPr>
              <a:t>Sensitive demographic attributes are deliberately excluded from recommendation rules.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· Responsible AI &amp; Deep-Learning Extension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is only one part of a defensible project.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097228790912444e+238" dist="1.048614395456222e+238" dir="6.10920974758616e+278">
              <a:srgbClr val="000000">
                <a:alpha val="9.999999999999996e+288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Fairness / support audit</a:t>
            </a:r>
            <a:endParaRPr lang="en-US" sz="1500" dirty="0"/>
          </a:p>
        </p:txBody>
      </p:sp>
      <p:pic>
        <p:nvPicPr>
          <p:cNvPr id="6" name="Image 0" descr="Selected subgroup false-positive rates for fairness review, including disability and gender groups." title="Selected subgroup false-positive rates for fairness review, including disability and gender group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988" y="2057400"/>
            <a:ext cx="4175983" cy="2331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5902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667085"/>
                </a:solidFill>
              </a:rPr>
              <a:t>Sensitive-feature ablation (development CV)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868680" y="49194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All features: F1 0.670 · ROC-AUC 0.785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No sensitive demographics: F1 0.659 · ROC-AUC 0.774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.663480564458804e+242" dist="1.331740282229402e+242" dir="3.6655258485516963e+283">
              <a:srgbClr val="000000">
                <a:alpha val="9.999999999999996e+293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8368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ANN extension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0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Development-only 3-fold group-aware MLP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01968" y="2542032"/>
            <a:ext cx="126187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.3826203168626813e+246" dist="1.6913101584313407e+246" dir="2.1993155091310177e+288">
              <a:srgbClr val="000000">
                <a:alpha val="9.999999999999997e+298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601968" y="2542032"/>
            <a:ext cx="45720" cy="1051560"/>
          </a:xfrm>
          <a:prstGeom prst="rect">
            <a:avLst/>
          </a:prstGeom>
          <a:solidFill>
            <a:srgbClr val="3766E8"/>
          </a:solidFill>
          <a:ln w="12700">
            <a:solidFill>
              <a:srgbClr val="3766E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66560" y="267919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F1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6766560" y="2926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0.636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766560" y="331012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CV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8010144" y="2542032"/>
            <a:ext cx="126187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4.295927802415605e+250" dist="2.1479639012078026e+250" dir="1.3195893054786106e+293">
              <a:srgbClr val="000000">
                <a:alpha val="9.999999999999997e+303"/>
              </a:srgbClr>
            </a:outerShdw>
          </a:effectLst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010144" y="2542032"/>
            <a:ext cx="45720" cy="1051560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174736" y="267919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RECALL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8174736" y="2926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0.593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174736" y="331012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CV</a:t>
            </a:r>
            <a:endParaRPr lang="en-US" sz="720" dirty="0"/>
          </a:p>
        </p:txBody>
      </p:sp>
      <p:sp>
        <p:nvSpPr>
          <p:cNvPr id="22" name="Shape 19"/>
          <p:cNvSpPr/>
          <p:nvPr/>
        </p:nvSpPr>
        <p:spPr>
          <a:xfrm>
            <a:off x="9418320" y="2542032"/>
            <a:ext cx="126187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.455828309067819e+254" dist="2.7279141545339093e+254" dir="7.917535832871664e+297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418320" y="2542032"/>
            <a:ext cx="45720" cy="105156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582912" y="267919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67085"/>
                </a:solidFill>
              </a:rPr>
              <a:t>ROC-AUC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9582912" y="2926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0.760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9582912" y="331012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CV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583680" y="40050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The neural network did not outperform Logistic Regression. That is a valid scientific result on structured tabular data.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583680" y="49194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Optional Keras script: Dense + BatchNorm + Dropout + Adam + BCE + EarlyStopping with group-aware development validation.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· Demo Dashboard &amp; Deployment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trained model to an explainable, human-readable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763524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.928901952516129e+258" dist="3.4644509762580647e+258" dir="4.750521499722998e+302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394192" y="1261872"/>
            <a:ext cx="2971800" cy="48006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.799705479695485e+262" dist="4.3998527398477425e+262" dir="2.850312899833799e+307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68512" y="16276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557"/>
                </a:solidFill>
              </a:rPr>
              <a:t>Demo capabilities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41080" y="2121408"/>
            <a:ext cx="237744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03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 / filter students by risk band</a:t>
            </a:r>
            <a:endParaRPr lang="en-US" sz="1030" dirty="0"/>
          </a:p>
          <a:p>
            <a:pPr marL="203200" indent="-203200">
              <a:buSzPct val="100000"/>
              <a:buChar char="•"/>
            </a:pPr>
            <a:r>
              <a:rPr lang="en-US" sz="103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1–4 engagement chart</a:t>
            </a:r>
            <a:endParaRPr lang="en-US" sz="1030" dirty="0"/>
          </a:p>
          <a:p>
            <a:pPr marL="203200" indent="-203200">
              <a:buSzPct val="100000"/>
              <a:buChar char="•"/>
            </a:pPr>
            <a:r>
              <a:rPr lang="en-US" sz="103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Early assessment signals</a:t>
            </a:r>
            <a:endParaRPr lang="en-US" sz="1030" dirty="0"/>
          </a:p>
          <a:p>
            <a:pPr marL="203200" indent="-203200">
              <a:buSzPct val="100000"/>
              <a:buChar char="•"/>
            </a:pPr>
            <a:r>
              <a:rPr lang="en-US" sz="103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Calibrated probability + risk band</a:t>
            </a:r>
            <a:endParaRPr lang="en-US" sz="1030" dirty="0"/>
          </a:p>
          <a:p>
            <a:pPr marL="203200" indent="-203200">
              <a:buSzPct val="100000"/>
              <a:buChar char="•"/>
            </a:pPr>
            <a:r>
              <a:rPr lang="en-US" sz="103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recommendations</a:t>
            </a:r>
            <a:endParaRPr lang="en-US" sz="1030" dirty="0"/>
          </a:p>
          <a:p>
            <a:pPr marL="203200" indent="-203200">
              <a:buSzPct val="100000"/>
              <a:buChar char="•"/>
            </a:pPr>
            <a:r>
              <a:rPr lang="en-US" sz="103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On-demand local SHAP for selected enrollment</a:t>
            </a:r>
            <a:endParaRPr lang="en-US" sz="1030" dirty="0"/>
          </a:p>
          <a:p>
            <a:pPr marL="203200" indent="-203200">
              <a:buSzPct val="100000"/>
              <a:buChar char="•"/>
            </a:pPr>
            <a:r>
              <a:rPr lang="en-US" sz="103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importance + CV comparison</a:t>
            </a:r>
            <a:endParaRPr lang="en-US" sz="1030" dirty="0"/>
          </a:p>
          <a:p>
            <a:pPr marL="203200" indent="-203200">
              <a:buSzPct val="100000"/>
              <a:buChar char="•"/>
            </a:pPr>
            <a:r>
              <a:rPr lang="en-US" sz="103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inference using saved bundle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8668512" y="5440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F9D8A"/>
                </a:solidFill>
              </a:rPr>
              <a:t>Run locally on Windows CMD:  py demo\app.py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  <p:pic>
        <p:nvPicPr>
          <p:cNvPr id="26" name="Picture 25" descr="dashboard_preview_wide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537023"/>
            <a:ext cx="7269480" cy="4286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· Conclusion &amp;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complete early-warning ML pipeline — with clear boundaries on what it can claim.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1175625959213265e+267" dist="5.587812979606632e+266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What we completed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139696"/>
            <a:ext cx="4389120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Temporal Day-28 target design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EDA + feature engineering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Leakage-safe grouped validation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LR / SVM / RF + ANN extension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Calibration + risk thresholds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SHAP + recommendations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Fairness/support audit</a:t>
            </a:r>
            <a:endParaRPr lang="en-US" sz="1110" dirty="0"/>
          </a:p>
          <a:p>
            <a:pPr marL="203200" indent="-2032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Reproducible inference + dashboard</a:t>
            </a:r>
            <a:endParaRPr lang="en-US" sz="111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F9FB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.4193044968200846e+271" dist="7.096522484100423e+270" dir="Infinity">
              <a:srgbClr val="000000">
                <a:alpha val="Infinity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Next research steps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57984"/>
            <a:ext cx="397764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Future-cohort / external validation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prediction points → risk trajectory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Sequential LSTM / GRU on raw temporal events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Intervention-impact evaluation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capacity-aware thresholds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Key takeaway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507492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9D8A"/>
                </a:solidFill>
              </a:rPr>
              <a:t>The strongest contribution is the disciplined workflow: time boundary, leakage control, grouped validation, calibration, explainability, fairness, and human-reviewed intervention.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A8599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Risk OULAD — Final Project Presentation</dc:title>
  <dc:subject>Intelligent Student Academic Progress Monitoring &amp; Early Risk Prediction</dc:subject>
  <dc:creator>Project Team</dc:creator>
  <cp:lastModifiedBy>Project Team</cp:lastModifiedBy>
  <cp:revision>1</cp:revision>
  <dcterms:created xsi:type="dcterms:W3CDTF">2026-09-17T10:00:47Z</dcterms:created>
  <dcterms:modified xsi:type="dcterms:W3CDTF">2026-09-17T10:00:47Z</dcterms:modified>
</cp:coreProperties>
</file>